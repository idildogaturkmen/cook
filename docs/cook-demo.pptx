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54303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 spc="500">
                <a:solidFill>
                  <a:srgbClr val="6E6455"/>
                </a:solidFill>
                <a:latin typeface="Segoe UI"/>
              </a:rPr>
              <a:t>CLUB EVENT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71600"/>
            <a:ext cx="107899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8000" b="1" i="0" spc="-200">
                <a:solidFill>
                  <a:srgbClr val="1B1712"/>
                </a:solidFill>
                <a:latin typeface="Georgia"/>
              </a:rPr>
              <a:t>COOK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1B1712"/>
                </a:solidFill>
                <a:latin typeface="Georgia"/>
              </a:rPr>
              <a:t>Club events, </a:t>
            </a:r>
            <a:r>
              <a:rPr sz="3000" b="0" i="1">
                <a:solidFill>
                  <a:srgbClr val="D44A24"/>
                </a:solidFill>
                <a:latin typeface="Georgia"/>
              </a:rPr>
              <a:t>measured.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6E6455"/>
                </a:solidFill>
                <a:latin typeface="Segoe UI"/>
              </a:rPr>
              <a:t>COOK runs the event &amp; keeps the score — turnout, spend, replies, follow-through —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6E6455"/>
                </a:solidFill>
                <a:latin typeface="Segoe UI"/>
              </a:rPr>
              <a:t>so every event makes the next one sharper.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126480"/>
            <a:ext cx="1054303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 spc="400">
                <a:solidFill>
                  <a:srgbClr val="6E6455"/>
                </a:solidFill>
                <a:latin typeface="Segoe UI"/>
              </a:rPr>
              <a:t>DEMO OVERVIEW</a:t>
            </a:r>
            <a:r>
              <a:rPr sz="1100" b="1" i="0" spc="400">
                <a:solidFill>
                  <a:srgbClr val="6E6455"/>
                </a:solidFill>
                <a:latin typeface="Segoe UI"/>
              </a:rPr>
              <a:t>      8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54303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 spc="300">
                <a:solidFill>
                  <a:srgbClr val="1B1712"/>
                </a:solidFill>
                <a:latin typeface="Segoe UI"/>
              </a:rPr>
              <a:t>COOK</a:t>
            </a:r>
            <a:r>
              <a:rPr sz="1100" b="1" i="0" spc="300">
                <a:solidFill>
                  <a:srgbClr val="6E6455"/>
                </a:solidFill>
                <a:latin typeface="Segoe UI"/>
              </a:rPr>
              <a:t>   · 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76656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 spc="200">
                <a:solidFill>
                  <a:srgbClr val="6E6455"/>
                </a:solidFill>
                <a:latin typeface="Segoe UI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30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0" i="1">
                <a:solidFill>
                  <a:srgbClr val="1B1712"/>
                </a:solidFill>
                <a:latin typeface="Georgia"/>
              </a:rPr>
              <a:t>Nobody Keeps the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D44A24"/>
                </a:solidFill>
                <a:latin typeface="Segoe U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86000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B1712"/>
                </a:solidFill>
                <a:latin typeface="Segoe UI"/>
              </a:rPr>
              <a:t>Nobody knows what worked.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E6455"/>
                </a:solidFill>
                <a:latin typeface="Segoe UI"/>
              </a:rPr>
              <a:t>The event ends, the group chat moves on, &amp; the spreadsheet of who showed up never happens.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8444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D44A24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584448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B1712"/>
                </a:solidFill>
                <a:latin typeface="Segoe UI"/>
              </a:rPr>
              <a:t>The next event starts from zero.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E6455"/>
                </a:solidFill>
                <a:latin typeface="Segoe UI"/>
              </a:rPr>
              <a:t>No attendance history, no cost records, no follow-up list — every officer re-learns the same lessons.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82896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D44A24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882896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B1712"/>
                </a:solidFill>
                <a:latin typeface="Segoe UI"/>
              </a:rPr>
              <a:t>AI tools don’t help.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E6455"/>
                </a:solidFill>
                <a:latin typeface="Segoe UI"/>
              </a:rPr>
              <a:t>They chat about the work, or send &amp; spend without asking. None of them count anything.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54303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 spc="300">
                <a:solidFill>
                  <a:srgbClr val="1B1712"/>
                </a:solidFill>
                <a:latin typeface="Segoe UI"/>
              </a:rPr>
              <a:t>COOK</a:t>
            </a:r>
            <a:r>
              <a:rPr sz="1100" b="1" i="0" spc="300">
                <a:solidFill>
                  <a:srgbClr val="6E6455"/>
                </a:solidFill>
                <a:latin typeface="Segoe UI"/>
              </a:rPr>
              <a:t>   ·   WHAT COOK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76656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 spc="200">
                <a:solidFill>
                  <a:srgbClr val="6E6455"/>
                </a:solidFill>
                <a:latin typeface="Segoe UI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30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0" i="1">
                <a:solidFill>
                  <a:srgbClr val="1B1712"/>
                </a:solidFill>
                <a:latin typeface="Georgia"/>
              </a:rPr>
              <a:t>Run the Event. Keep the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3364992" cy="283464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1760"/>
            <a:ext cx="277977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1">
                <a:solidFill>
                  <a:srgbClr val="D44A24"/>
                </a:solidFill>
                <a:latin typeface="Georgia"/>
              </a:rPr>
              <a:t>The Pass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B1712"/>
                </a:solidFill>
                <a:latin typeface="Segoe UI"/>
              </a:rPr>
              <a:t>Every event, task, run-of-show &amp; partner in one place — scoped to your club, shared by your officers.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331720"/>
            <a:ext cx="3364992" cy="283464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651760"/>
            <a:ext cx="277977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1">
                <a:solidFill>
                  <a:srgbClr val="D44A24"/>
                </a:solidFill>
                <a:latin typeface="Georgia"/>
              </a:rPr>
              <a:t>The Kitchen Staff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B1712"/>
                </a:solidFill>
                <a:latin typeface="Segoe UI"/>
              </a:rPr>
              <a:t>AI skills prep the work: task lists, outreach drafts, supply carts, food runs. You stay on the pass.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2331720"/>
            <a:ext cx="3364992" cy="2834640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651760"/>
            <a:ext cx="2779776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1">
                <a:solidFill>
                  <a:srgbClr val="D44A24"/>
                </a:solidFill>
                <a:latin typeface="Georgia"/>
              </a:rPr>
              <a:t>The Scorecard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B1712"/>
                </a:solidFill>
                <a:latin typeface="Segoe UI"/>
              </a:rPr>
              <a:t>Every event records its numbers — turnout, spend, replies, follow-through — and feeds them forward.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105430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E6455"/>
                </a:solidFill>
                <a:latin typeface="Segoe UI"/>
              </a:rPr>
              <a:t>Not a social app. Not five chatbots. </a:t>
            </a:r>
            <a:r>
              <a:rPr sz="1600" b="1" i="0">
                <a:solidFill>
                  <a:srgbClr val="1B1712"/>
                </a:solidFill>
                <a:latin typeface="Segoe UI"/>
              </a:rPr>
              <a:t>One spine, skills on the side, numbers on the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54303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 spc="300">
                <a:solidFill>
                  <a:srgbClr val="1B1712"/>
                </a:solidFill>
                <a:latin typeface="Segoe UI"/>
              </a:rPr>
              <a:t>COOK</a:t>
            </a:r>
            <a:r>
              <a:rPr sz="1100" b="1" i="0" spc="300">
                <a:solidFill>
                  <a:srgbClr val="6E6455"/>
                </a:solidFill>
                <a:latin typeface="Segoe UI"/>
              </a:rPr>
              <a:t>   ·   WHAT GETS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76656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 spc="200">
                <a:solidFill>
                  <a:srgbClr val="6E6455"/>
                </a:solidFill>
                <a:latin typeface="Segoe UI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30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0" i="1">
                <a:solidFill>
                  <a:srgbClr val="1B1712"/>
                </a:solidFill>
                <a:latin typeface="Georgia"/>
              </a:rPr>
              <a:t>What Gets Measured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5148072" cy="1481328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596896"/>
            <a:ext cx="456285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B1712"/>
                </a:solidFill>
                <a:latin typeface="Segoe UI"/>
              </a:rPr>
              <a:t>Show-up rate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RSVPs vs. actual check-ins — the number every club argues about, settled.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148072" cy="1481328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596896"/>
            <a:ext cx="456285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B1712"/>
                </a:solidFill>
                <a:latin typeface="Segoe UI"/>
              </a:rPr>
              <a:t>Cost per head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Supplies &amp; food, divided by who came. Budgets stop being guesses.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05656"/>
            <a:ext cx="5148072" cy="1481328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325112"/>
            <a:ext cx="456285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B1712"/>
                </a:solidFill>
                <a:latin typeface="Segoe UI"/>
              </a:rPr>
              <a:t>Reply rate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Outreach answered vs. sent — which partners &amp; channels actually respond.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05656"/>
            <a:ext cx="5148072" cy="1481328"/>
          </a:xfrm>
          <a:prstGeom prst="roundRect">
            <a:avLst>
              <a:gd name="adj" fmla="val 4500"/>
            </a:avLst>
          </a:prstGeom>
          <a:solidFill>
            <a:srgbClr val="FFFCF6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325112"/>
            <a:ext cx="456285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B1712"/>
                </a:solidFill>
                <a:latin typeface="Segoe UI"/>
              </a:rPr>
              <a:t>Follow-through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Post-event tasks closed vs. opened. The debrief that actually happens.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1712"/>
                </a:solidFill>
                <a:latin typeface="Segoe UI"/>
              </a:rPr>
              <a:t>No PII in the numbers. </a:t>
            </a:r>
            <a:r>
              <a:rPr sz="1500" b="0" i="0">
                <a:solidFill>
                  <a:srgbClr val="6E6455"/>
                </a:solidFill>
                <a:latin typeface="Segoe UI"/>
              </a:rPr>
              <a:t>Counts &amp; rates, never names — attendance, not surveillance.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54303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 spc="300">
                <a:solidFill>
                  <a:srgbClr val="1B1712"/>
                </a:solidFill>
                <a:latin typeface="Segoe UI"/>
              </a:rPr>
              <a:t>COOK</a:t>
            </a:r>
            <a:r>
              <a:rPr sz="1100" b="1" i="0" spc="300">
                <a:solidFill>
                  <a:srgbClr val="6E6455"/>
                </a:solidFill>
                <a:latin typeface="Segoe UI"/>
              </a:rPr>
              <a:t>   ·   THE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76656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 spc="200">
                <a:solidFill>
                  <a:srgbClr val="6E6455"/>
                </a:solidFill>
                <a:latin typeface="Segoe UI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30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0" i="1">
                <a:solidFill>
                  <a:srgbClr val="1B1712"/>
                </a:solidFill>
                <a:latin typeface="Georgia"/>
              </a:rPr>
              <a:t>Every Station Feeds the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148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D44A24"/>
                </a:solidFill>
                <a:latin typeface="Segoe UI"/>
              </a:rPr>
              <a:t>—  </a:t>
            </a:r>
            <a:r>
              <a:rPr sz="1650" b="1" i="0">
                <a:solidFill>
                  <a:srgbClr val="1B1712"/>
                </a:solidFill>
                <a:latin typeface="Segoe UI"/>
              </a:rPr>
              <a:t>Plan Club Event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E6455"/>
                </a:solidFill>
                <a:latin typeface="Segoe UI"/>
              </a:rPr>
              <a:t>Sets targets up front: headcount, budget, capacity. You can’t beat a number you never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5148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D44A24"/>
                </a:solidFill>
                <a:latin typeface="Segoe UI"/>
              </a:rPr>
              <a:t>—  </a:t>
            </a:r>
            <a:r>
              <a:rPr sz="1650" b="1" i="0">
                <a:solidFill>
                  <a:srgbClr val="1B1712"/>
                </a:solidFill>
                <a:latin typeface="Segoe UI"/>
              </a:rPr>
              <a:t>Luma Event Invite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E6455"/>
                </a:solidFill>
                <a:latin typeface="Segoe UI"/>
              </a:rPr>
              <a:t>The draft invite is where RSVP tracking starts — signups flow back into the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38728"/>
            <a:ext cx="5148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D44A24"/>
                </a:solidFill>
                <a:latin typeface="Segoe UI"/>
              </a:rPr>
              <a:t>—  </a:t>
            </a:r>
            <a:r>
              <a:rPr sz="1650" b="1" i="0">
                <a:solidFill>
                  <a:srgbClr val="1B1712"/>
                </a:solidFill>
                <a:latin typeface="Segoe UI"/>
              </a:rPr>
              <a:t>Amazon Event Supplies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E6455"/>
                </a:solidFill>
                <a:latin typeface="Segoe UI"/>
              </a:rPr>
              <a:t>500+ reviews, 4.6+ stars, arrives 2+ days early — quality bars you can audit, with the spend logged.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538728"/>
            <a:ext cx="5148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D44A24"/>
                </a:solidFill>
                <a:latin typeface="Segoe UI"/>
              </a:rPr>
              <a:t>—  </a:t>
            </a:r>
            <a:r>
              <a:rPr sz="1650" b="1" i="0">
                <a:solidFill>
                  <a:srgbClr val="1B1712"/>
                </a:solidFill>
                <a:latin typeface="Segoe UI"/>
              </a:rPr>
              <a:t>Event Food Order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E6455"/>
                </a:solidFill>
                <a:latin typeface="Segoe UI"/>
              </a:rPr>
              <a:t>Order sheet, runner logistics, receipt — cost per head falls out of the paperwork.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28616"/>
            <a:ext cx="5148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D44A24"/>
                </a:solidFill>
                <a:latin typeface="Segoe UI"/>
              </a:rPr>
              <a:t>—  </a:t>
            </a:r>
            <a:r>
              <a:rPr sz="1650" b="1" i="0">
                <a:solidFill>
                  <a:srgbClr val="1B1712"/>
                </a:solidFill>
                <a:latin typeface="Segoe UI"/>
              </a:rPr>
              <a:t>Metrics &amp; Follow-Ups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E6455"/>
                </a:solidFill>
                <a:latin typeface="Segoe UI"/>
              </a:rPr>
              <a:t>Reads the event’s records after the fact: what hit target, what slipped, who to thank.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928616"/>
            <a:ext cx="5148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D44A24"/>
                </a:solidFill>
                <a:latin typeface="Segoe UI"/>
              </a:rPr>
              <a:t>—  </a:t>
            </a:r>
            <a:r>
              <a:rPr sz="1650" b="1" i="0">
                <a:solidFill>
                  <a:srgbClr val="1B1712"/>
                </a:solidFill>
                <a:latin typeface="Segoe UI"/>
              </a:rPr>
              <a:t>Personal Daily Brief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E6455"/>
                </a:solidFill>
                <a:latin typeface="Segoe UI"/>
              </a:rPr>
              <a:t>Each morning: what’s on, what’s waiting on you, what’s overdue — your own follow-through, counted.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54303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 spc="300">
                <a:solidFill>
                  <a:srgbClr val="1B1712"/>
                </a:solidFill>
                <a:latin typeface="Segoe UI"/>
              </a:rPr>
              <a:t>COOK</a:t>
            </a:r>
            <a:r>
              <a:rPr sz="1100" b="1" i="0" spc="300">
                <a:solidFill>
                  <a:srgbClr val="6E6455"/>
                </a:solidFill>
                <a:latin typeface="Segoe UI"/>
              </a:rPr>
              <a:t>   ·  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76656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 spc="200">
                <a:solidFill>
                  <a:srgbClr val="6E6455"/>
                </a:solidFill>
                <a:latin typeface="Segoe UI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30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0" i="1">
                <a:solidFill>
                  <a:srgbClr val="1B1712"/>
                </a:solidFill>
                <a:latin typeface="Georgia"/>
              </a:rPr>
              <a:t>Every Event Sharpens the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21992"/>
            <a:ext cx="1005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0" i="1">
                <a:solidFill>
                  <a:srgbClr val="D44A24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331720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B1712"/>
                </a:solidFill>
                <a:latin typeface="Segoe UI"/>
              </a:rPr>
              <a:t>Set targets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Headcount, budget &amp; capacity lock in at the plan stage — before anyone spends a dollar.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3191256"/>
            <a:ext cx="944575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09544"/>
            <a:ext cx="1005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0" i="1">
                <a:solidFill>
                  <a:srgbClr val="D44A24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319272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B1712"/>
                </a:solidFill>
                <a:latin typeface="Segoe UI"/>
              </a:rPr>
              <a:t>Run the night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Check-ins, spend &amp; outreach land in the record as the event happens, not after from memory.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4178808"/>
            <a:ext cx="944575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97096"/>
            <a:ext cx="1005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0" i="1">
                <a:solidFill>
                  <a:srgbClr val="D44A24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306824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B1712"/>
                </a:solidFill>
                <a:latin typeface="Segoe UI"/>
              </a:rPr>
              <a:t>Read the score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Show-up rate, cost per head, reply rate — against the targets you set in step 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5166360"/>
            <a:ext cx="944575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84648"/>
            <a:ext cx="1005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0" i="1">
                <a:solidFill>
                  <a:srgbClr val="D44A24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94376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B1712"/>
                </a:solidFill>
                <a:latin typeface="Segoe UI"/>
              </a:rPr>
              <a:t>Feed it forward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Follow-ups go out, lessons attach to the next plan, targets adjust. The loop closes.</a:t>
            </a:r>
          </a:p>
        </p:txBody>
      </p:sp>
      <p:sp>
        <p:nvSpPr>
          <p:cNvPr id="18" name="Rounded Rectangle 17"/>
          <p:cNvSpPr/>
          <p:nvPr/>
        </p:nvSpPr>
        <p:spPr>
          <a:xfrm rot="420000">
            <a:off x="9646920" y="1051560"/>
            <a:ext cx="1965960" cy="512064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D44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 i="0" spc="300">
                <a:solidFill>
                  <a:srgbClr val="D44A24"/>
                </a:solidFill>
                <a:latin typeface="Segoe UI"/>
              </a:rPr>
              <a:t>APPROVAL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54303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 spc="300">
                <a:solidFill>
                  <a:srgbClr val="1B1712"/>
                </a:solidFill>
                <a:latin typeface="Segoe UI"/>
              </a:rPr>
              <a:t>COOK</a:t>
            </a:r>
            <a:r>
              <a:rPr sz="1100" b="1" i="0" spc="300">
                <a:solidFill>
                  <a:srgbClr val="6E6455"/>
                </a:solidFill>
                <a:latin typeface="Segoe UI"/>
              </a:rPr>
              <a:t>   ·  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76656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 spc="200">
                <a:solidFill>
                  <a:srgbClr val="6E6455"/>
                </a:solidFill>
                <a:latin typeface="Segoe UI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30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0" i="1">
                <a:solidFill>
                  <a:srgbClr val="1B1712"/>
                </a:solidFill>
                <a:latin typeface="Georgia"/>
              </a:rPr>
              <a:t>Nothing Leaves the Kitchen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43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0" i="1">
                <a:solidFill>
                  <a:srgbClr val="D44A24"/>
                </a:solidFill>
                <a:latin typeface="Georgia"/>
              </a:rPr>
              <a:t>without your stamp.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44A24"/>
                </a:solidFill>
                <a:latin typeface="Segoe U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9748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B1712"/>
                </a:solidFill>
                <a:latin typeface="Segoe UI"/>
              </a:rPr>
              <a:t>Approve-before-send, everywhere — </a:t>
            </a:r>
            <a:r>
              <a:rPr sz="1350" b="0" i="0">
                <a:solidFill>
                  <a:srgbClr val="6E6455"/>
                </a:solidFill>
                <a:latin typeface="Segoe UI"/>
              </a:rPr>
              <a:t>invites, outreach, orders &amp; edits each pause for an explicit yes — per action, not per session.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3872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44A24"/>
                </a:solidFill>
                <a:latin typeface="Segoe U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38728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B1712"/>
                </a:solidFill>
                <a:latin typeface="Segoe UI"/>
              </a:rPr>
              <a:t>Dry-run safe by default — </a:t>
            </a:r>
            <a:r>
              <a:rPr sz="1350" b="0" i="0">
                <a:solidFill>
                  <a:srgbClr val="6E6455"/>
                </a:solidFill>
                <a:latin typeface="Segoe UI"/>
              </a:rPr>
              <a:t>demo mode builds full carts &amp; drafts without ever paying, publishing, or sending.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79976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44A24"/>
                </a:solidFill>
                <a:latin typeface="Segoe U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379976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B1712"/>
                </a:solidFill>
                <a:latin typeface="Segoe UI"/>
              </a:rPr>
              <a:t>Every number shows its source — </a:t>
            </a:r>
            <a:r>
              <a:rPr sz="1350" b="0" i="0">
                <a:solidFill>
                  <a:srgbClr val="6E6455"/>
                </a:solidFill>
                <a:latin typeface="Segoe UI"/>
              </a:rPr>
              <a:t>each metric traces to the record it came from — verify any claim in two clicks.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2122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44A24"/>
                </a:solidFill>
                <a:latin typeface="Segoe U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221224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B1712"/>
                </a:solidFill>
                <a:latin typeface="Segoe UI"/>
              </a:rPr>
              <a:t>Counts, not people — </a:t>
            </a:r>
            <a:r>
              <a:rPr sz="1350" b="0" i="0">
                <a:solidFill>
                  <a:srgbClr val="6E6455"/>
                </a:solidFill>
                <a:latin typeface="Segoe UI"/>
              </a:rPr>
              <a:t>attendance &amp; rates only. No names, no message bodies, no PII in the numbers.</a:t>
            </a:r>
          </a:p>
        </p:txBody>
      </p:sp>
      <p:sp>
        <p:nvSpPr>
          <p:cNvPr id="16" name="Rounded Rectangle 15"/>
          <p:cNvSpPr/>
          <p:nvPr/>
        </p:nvSpPr>
        <p:spPr>
          <a:xfrm rot="21060000">
            <a:off x="9464040" y="3337560"/>
            <a:ext cx="2286000" cy="566928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D44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 i="0" spc="300">
                <a:solidFill>
                  <a:srgbClr val="D44A24"/>
                </a:solidFill>
                <a:latin typeface="Segoe UI"/>
              </a:rPr>
              <a:t>APPROVAL REQUIRED</a:t>
            </a:r>
          </a:p>
        </p:txBody>
      </p:sp>
      <p:sp>
        <p:nvSpPr>
          <p:cNvPr id="17" name="Rounded Rectangle 16"/>
          <p:cNvSpPr/>
          <p:nvPr/>
        </p:nvSpPr>
        <p:spPr>
          <a:xfrm rot="300000">
            <a:off x="9784080" y="4389120"/>
            <a:ext cx="1920240" cy="512064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D44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1" i="0" spc="300">
                <a:solidFill>
                  <a:srgbClr val="D44A24"/>
                </a:solidFill>
                <a:latin typeface="Segoe UI"/>
              </a:rPr>
              <a:t>HUMAN SAYS YES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54303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 spc="300">
                <a:solidFill>
                  <a:srgbClr val="1B1712"/>
                </a:solidFill>
                <a:latin typeface="Segoe UI"/>
              </a:rPr>
              <a:t>COOK</a:t>
            </a:r>
            <a:r>
              <a:rPr sz="1100" b="1" i="0" spc="300">
                <a:solidFill>
                  <a:srgbClr val="6E6455"/>
                </a:solidFill>
                <a:latin typeface="Segoe UI"/>
              </a:rPr>
              <a:t>   ·  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76656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 spc="200">
                <a:solidFill>
                  <a:srgbClr val="6E6455"/>
                </a:solidFill>
                <a:latin typeface="Segoe UI"/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4303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0" i="1">
                <a:solidFill>
                  <a:srgbClr val="1B1712"/>
                </a:solidFill>
                <a:latin typeface="Georgia"/>
              </a:rPr>
              <a:t>Keeping Score Tonight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7200" b="1" i="0" spc="-100">
                <a:solidFill>
                  <a:srgbClr val="D44A24"/>
                </a:solidFill>
                <a:latin typeface="Georgia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64408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skills written &amp; ready — plan, invite, supplies, food, metrics, brief &amp; 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2402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7200" b="1" i="0" spc="-100">
                <a:solidFill>
                  <a:srgbClr val="D44A2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264408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queue every draft, cart &amp; invite must pass through before anything happens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2402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7200" b="1" i="0" spc="-100">
                <a:solidFill>
                  <a:srgbClr val="D44A24"/>
                </a:solidFill>
                <a:latin typeface="Georg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264408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E6455"/>
                </a:solidFill>
                <a:latin typeface="Segoe UI"/>
              </a:rPr>
              <a:t>messages sent, orders placed, or invites published without a human 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06240"/>
            <a:ext cx="10543032" cy="12700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33649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1B1712"/>
                </a:solidFill>
                <a:latin typeface="Georgia"/>
              </a:rPr>
              <a:t>On the Pass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1712"/>
                </a:solidFill>
                <a:latin typeface="Segoe UI"/>
              </a:rPr>
              <a:t>Full event management, the Approvals queue &amp; a seeded demo night — ready to walk through now.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4434840"/>
            <a:ext cx="33649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E6455"/>
                </a:solidFill>
                <a:latin typeface="Georgia"/>
              </a:rPr>
              <a:t>Still Prepping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E6455"/>
                </a:solidFill>
                <a:latin typeface="Segoe UI"/>
              </a:rPr>
              <a:t>AI skills answer with placeholders today; sign-in is a demo shortcut; approved drafts don’t send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4434840"/>
            <a:ext cx="33649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D44A24"/>
                </a:solidFill>
                <a:latin typeface="Georgia"/>
              </a:rPr>
              <a:t>Next Up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1712"/>
                </a:solidFill>
                <a:latin typeface="Segoe UI"/>
              </a:rPr>
              <a:t>A real model behind the skills, real accounts &amp; per-club permissions, and live sending on approval.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35040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1B1712"/>
                </a:solidFill>
                <a:latin typeface="Georgia"/>
              </a:rPr>
              <a:t>The scoreboard is built. </a:t>
            </a:r>
            <a:r>
              <a:rPr sz="1700" b="0" i="1">
                <a:solidFill>
                  <a:srgbClr val="D44A24"/>
                </a:solidFill>
                <a:latin typeface="Georgia"/>
              </a:rPr>
              <a:t>We’re just firing the burners…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