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0543032" cy="12700"/>
          </a:xfrm>
          <a:prstGeom prst="rect">
            <a:avLst/>
          </a:prstGeom>
          <a:solidFill>
            <a:srgbClr val="D9C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7665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 spc="500">
                <a:solidFill>
                  <a:srgbClr val="6E6455"/>
                </a:solidFill>
                <a:latin typeface="Segoe UI"/>
              </a:rPr>
              <a:t>CLUB EVENT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417320"/>
            <a:ext cx="107899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sz="19000" b="1" i="0" spc="-200">
                <a:solidFill>
                  <a:srgbClr val="1B1712"/>
                </a:solidFill>
                <a:latin typeface="Georgia"/>
              </a:rPr>
              <a:t>COOK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1B1712"/>
                </a:solidFill>
                <a:latin typeface="Georgia"/>
              </a:rPr>
              <a:t>Every club event, </a:t>
            </a:r>
            <a:r>
              <a:rPr sz="3000" b="0" i="1">
                <a:solidFill>
                  <a:srgbClr val="D44A24"/>
                </a:solidFill>
                <a:latin typeface="Georgia"/>
              </a:rPr>
              <a:t>plated.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5488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6E6455"/>
                </a:solidFill>
                <a:latin typeface="Segoe UI"/>
              </a:rPr>
              <a:t>One home for the plan, the invite, the orders &amp; the morning after —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6E6455"/>
                </a:solidFill>
                <a:latin typeface="Segoe UI"/>
              </a:rPr>
              <a:t>with an AI kitchen staff that preps everything &amp; waits for your yes.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126480"/>
            <a:ext cx="10543032" cy="12700"/>
          </a:xfrm>
          <a:prstGeom prst="rect">
            <a:avLst/>
          </a:prstGeom>
          <a:solidFill>
            <a:srgbClr val="D9C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263640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 spc="400">
                <a:solidFill>
                  <a:srgbClr val="6E6455"/>
                </a:solidFill>
                <a:latin typeface="Segoe UI"/>
              </a:rPr>
              <a:t>DEMO OVERVIEW</a:t>
            </a:r>
            <a:r>
              <a:rPr sz="1100" b="1" i="0" spc="400">
                <a:solidFill>
                  <a:srgbClr val="6E6455"/>
                </a:solidFill>
                <a:latin typeface="Segoe UI"/>
              </a:rPr>
              <a:t>      8 SLIDES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0543032" cy="12700"/>
          </a:xfrm>
          <a:prstGeom prst="rect">
            <a:avLst/>
          </a:prstGeom>
          <a:solidFill>
            <a:srgbClr val="D9C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7665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 spc="300">
                <a:solidFill>
                  <a:srgbClr val="1B1712"/>
                </a:solidFill>
                <a:latin typeface="Segoe UI"/>
              </a:rPr>
              <a:t>COOK</a:t>
            </a:r>
            <a:r>
              <a:rPr sz="1100" b="1" i="0" spc="300">
                <a:solidFill>
                  <a:srgbClr val="6E6455"/>
                </a:solidFill>
                <a:latin typeface="Segoe UI"/>
              </a:rPr>
              <a:t>   ·  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76656"/>
            <a:ext cx="1005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 spc="200">
                <a:solidFill>
                  <a:srgbClr val="6E6455"/>
                </a:solidFill>
                <a:latin typeface="Segoe UI"/>
              </a:rPr>
              <a:t>02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10543032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0" i="1">
                <a:solidFill>
                  <a:srgbClr val="1B1712"/>
                </a:solidFill>
                <a:latin typeface="Georgia"/>
              </a:rPr>
              <a:t>Club Events Run on Chaos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D44A24"/>
                </a:solidFill>
                <a:latin typeface="Segoe U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86000"/>
            <a:ext cx="9875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B1712"/>
                </a:solidFill>
                <a:latin typeface="Segoe UI"/>
              </a:rPr>
              <a:t>The plan lives in a doc.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6E6455"/>
                </a:solidFill>
                <a:latin typeface="Segoe UI"/>
              </a:rPr>
              <a:t>The invite lives on Luma. The supplies sit in an Amazon cart. The food is a group chat.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8444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D44A24"/>
                </a:solidFill>
                <a:latin typeface="Segoe UI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584448"/>
            <a:ext cx="9875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B1712"/>
                </a:solidFill>
                <a:latin typeface="Segoe UI"/>
              </a:rPr>
              <a:t>Officers cook for free.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6E6455"/>
                </a:solidFill>
                <a:latin typeface="Segoe UI"/>
              </a:rPr>
              <a:t>Thin budgets, campus rooms, volunteer labor — the same scramble, every single event.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82896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D44A24"/>
                </a:solidFill>
                <a:latin typeface="Segoe U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4882896"/>
            <a:ext cx="9875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B1712"/>
                </a:solidFill>
                <a:latin typeface="Segoe UI"/>
              </a:rPr>
              <a:t>AI tools don’t help.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6E6455"/>
                </a:solidFill>
                <a:latin typeface="Segoe UI"/>
              </a:rPr>
              <a:t>They either just chat about the work — or worse, send &amp; spend without asking.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0543032" cy="12700"/>
          </a:xfrm>
          <a:prstGeom prst="rect">
            <a:avLst/>
          </a:prstGeom>
          <a:solidFill>
            <a:srgbClr val="D9C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7665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 spc="300">
                <a:solidFill>
                  <a:srgbClr val="1B1712"/>
                </a:solidFill>
                <a:latin typeface="Segoe UI"/>
              </a:rPr>
              <a:t>COOK</a:t>
            </a:r>
            <a:r>
              <a:rPr sz="1100" b="1" i="0" spc="300">
                <a:solidFill>
                  <a:srgbClr val="6E6455"/>
                </a:solidFill>
                <a:latin typeface="Segoe UI"/>
              </a:rPr>
              <a:t>   ·   WHAT COOK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76656"/>
            <a:ext cx="1005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 spc="200">
                <a:solidFill>
                  <a:srgbClr val="6E6455"/>
                </a:solidFill>
                <a:latin typeface="Segoe UI"/>
              </a:rPr>
              <a:t>03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10543032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0" i="1">
                <a:solidFill>
                  <a:srgbClr val="1B1712"/>
                </a:solidFill>
                <a:latin typeface="Georgia"/>
              </a:rPr>
              <a:t>One Kitchen. One Pass.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3364992" cy="2834640"/>
          </a:xfrm>
          <a:prstGeom prst="roundRect">
            <a:avLst>
              <a:gd name="adj" fmla="val 4500"/>
            </a:avLst>
          </a:prstGeom>
          <a:solidFill>
            <a:srgbClr val="FFFCF6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2697480"/>
            <a:ext cx="2779776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1">
                <a:solidFill>
                  <a:srgbClr val="D44A24"/>
                </a:solidFill>
                <a:latin typeface="Georgia"/>
              </a:rPr>
              <a:t>The Pass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B1712"/>
                </a:solidFill>
                <a:latin typeface="Segoe UI"/>
              </a:rPr>
              <a:t>Every event, task, run-of-show &amp; partner in one place — scoped to your club, shared by your officers.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2377440"/>
            <a:ext cx="3364992" cy="2834640"/>
          </a:xfrm>
          <a:prstGeom prst="roundRect">
            <a:avLst>
              <a:gd name="adj" fmla="val 4500"/>
            </a:avLst>
          </a:prstGeom>
          <a:solidFill>
            <a:srgbClr val="FFFCF6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697480"/>
            <a:ext cx="2779776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1">
                <a:solidFill>
                  <a:srgbClr val="D44A24"/>
                </a:solidFill>
                <a:latin typeface="Georgia"/>
              </a:rPr>
              <a:t>The Kitchen Staff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B1712"/>
                </a:solidFill>
                <a:latin typeface="Segoe UI"/>
              </a:rPr>
              <a:t>AI skills prep the work: task lists, outreach drafts, supply carts, food runs. You stay on the pass.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2377440"/>
            <a:ext cx="3364992" cy="2834640"/>
          </a:xfrm>
          <a:prstGeom prst="roundRect">
            <a:avLst>
              <a:gd name="adj" fmla="val 4500"/>
            </a:avLst>
          </a:prstGeom>
          <a:solidFill>
            <a:srgbClr val="FFFCF6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2697480"/>
            <a:ext cx="2779776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1">
                <a:solidFill>
                  <a:srgbClr val="D44A24"/>
                </a:solidFill>
                <a:latin typeface="Georgia"/>
              </a:rPr>
              <a:t>The Stamp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B1712"/>
                </a:solidFill>
                <a:latin typeface="Segoe UI"/>
              </a:rPr>
              <a:t>Nothing sends, publishes, or charges without your explicit yes. Every single time.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715000"/>
            <a:ext cx="1054303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E6455"/>
                </a:solidFill>
                <a:latin typeface="Segoe UI"/>
              </a:rPr>
              <a:t>Not a social app. Not five chatbots. </a:t>
            </a:r>
            <a:r>
              <a:rPr sz="1600" b="1" i="0">
                <a:solidFill>
                  <a:srgbClr val="1B1712"/>
                </a:solidFill>
                <a:latin typeface="Segoe UI"/>
              </a:rPr>
              <a:t>One spine, skills on the side.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0543032" cy="12700"/>
          </a:xfrm>
          <a:prstGeom prst="rect">
            <a:avLst/>
          </a:prstGeom>
          <a:solidFill>
            <a:srgbClr val="D9C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7665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 spc="300">
                <a:solidFill>
                  <a:srgbClr val="1B1712"/>
                </a:solidFill>
                <a:latin typeface="Segoe UI"/>
              </a:rPr>
              <a:t>COOK</a:t>
            </a:r>
            <a:r>
              <a:rPr sz="1100" b="1" i="0" spc="300">
                <a:solidFill>
                  <a:srgbClr val="6E6455"/>
                </a:solidFill>
                <a:latin typeface="Segoe UI"/>
              </a:rPr>
              <a:t>   ·   THE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76656"/>
            <a:ext cx="1005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 spc="200">
                <a:solidFill>
                  <a:srgbClr val="6E6455"/>
                </a:solidFill>
                <a:latin typeface="Segoe UI"/>
              </a:rPr>
              <a:t>04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10543032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0" i="1">
                <a:solidFill>
                  <a:srgbClr val="1B1712"/>
                </a:solidFill>
                <a:latin typeface="Georgia"/>
              </a:rPr>
              <a:t>Tonight’s Service, at a Glance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5148072" cy="1481328"/>
          </a:xfrm>
          <a:prstGeom prst="roundRect">
            <a:avLst>
              <a:gd name="adj" fmla="val 4500"/>
            </a:avLst>
          </a:prstGeom>
          <a:solidFill>
            <a:srgbClr val="FFFCF6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2596896"/>
            <a:ext cx="4562856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B1712"/>
                </a:solidFill>
                <a:latin typeface="Segoe UI"/>
              </a:rPr>
              <a:t>Home Digest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6E6455"/>
                </a:solidFill>
                <a:latin typeface="Segoe UI"/>
              </a:rPr>
              <a:t>This week’s events, open tasks &amp; pending drafts — the moment you open the app.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377440"/>
            <a:ext cx="5148072" cy="1481328"/>
          </a:xfrm>
          <a:prstGeom prst="roundRect">
            <a:avLst>
              <a:gd name="adj" fmla="val 4500"/>
            </a:avLst>
          </a:prstGeom>
          <a:solidFill>
            <a:srgbClr val="FFFCF6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596896"/>
            <a:ext cx="4562856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B1712"/>
                </a:solidFill>
                <a:latin typeface="Segoe UI"/>
              </a:rPr>
              <a:t>Event Page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6E6455"/>
                </a:solidFill>
                <a:latin typeface="Segoe UI"/>
              </a:rPr>
              <a:t>Brief, task list &amp; run-of-show on one screen. No tab-switching mid-crunch.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05656"/>
            <a:ext cx="5148072" cy="1481328"/>
          </a:xfrm>
          <a:prstGeom prst="roundRect">
            <a:avLst>
              <a:gd name="adj" fmla="val 4500"/>
            </a:avLst>
          </a:prstGeom>
          <a:solidFill>
            <a:srgbClr val="FFFCF6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4325112"/>
            <a:ext cx="4562856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B1712"/>
                </a:solidFill>
                <a:latin typeface="Segoe UI"/>
              </a:rPr>
              <a:t>Approvals Queue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6E6455"/>
                </a:solidFill>
                <a:latin typeface="Segoe UI"/>
              </a:rPr>
              <a:t>Every outreach draft waits here: draft, awaiting approval, sent. Nothing sends itself.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105656"/>
            <a:ext cx="5148072" cy="1481328"/>
          </a:xfrm>
          <a:prstGeom prst="roundRect">
            <a:avLst>
              <a:gd name="adj" fmla="val 4500"/>
            </a:avLst>
          </a:prstGeom>
          <a:solidFill>
            <a:srgbClr val="FFFCF6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4325112"/>
            <a:ext cx="4562856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B1712"/>
                </a:solidFill>
                <a:latin typeface="Segoe UI"/>
              </a:rPr>
              <a:t>Guest Snapshot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6E6455"/>
                </a:solidFill>
                <a:latin typeface="Segoe UI"/>
              </a:rPr>
              <a:t>Partners, contacts, attendance &amp; follow-ups — the next event starts smarter.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0543032" cy="12700"/>
          </a:xfrm>
          <a:prstGeom prst="rect">
            <a:avLst/>
          </a:prstGeom>
          <a:solidFill>
            <a:srgbClr val="D9C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7665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 spc="300">
                <a:solidFill>
                  <a:srgbClr val="1B1712"/>
                </a:solidFill>
                <a:latin typeface="Segoe UI"/>
              </a:rPr>
              <a:t>COOK</a:t>
            </a:r>
            <a:r>
              <a:rPr sz="1100" b="1" i="0" spc="300">
                <a:solidFill>
                  <a:srgbClr val="6E6455"/>
                </a:solidFill>
                <a:latin typeface="Segoe UI"/>
              </a:rPr>
              <a:t>   ·   THE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76656"/>
            <a:ext cx="1005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 spc="200">
                <a:solidFill>
                  <a:srgbClr val="6E6455"/>
                </a:solidFill>
                <a:latin typeface="Segoe UI"/>
              </a:rPr>
              <a:t>05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10543032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0" i="1">
                <a:solidFill>
                  <a:srgbClr val="1B1712"/>
                </a:solidFill>
                <a:latin typeface="Georgia"/>
              </a:rPr>
              <a:t>A Prep Cook for Every Station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5148072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D44A24"/>
                </a:solidFill>
                <a:latin typeface="Segoe UI"/>
              </a:rPr>
              <a:t>—  </a:t>
            </a:r>
            <a:r>
              <a:rPr sz="1650" b="1" i="0">
                <a:solidFill>
                  <a:srgbClr val="1B1712"/>
                </a:solidFill>
                <a:latin typeface="Segoe UI"/>
              </a:rPr>
              <a:t>Plan Club Event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6E6455"/>
                </a:solidFill>
                <a:latin typeface="Segoe UI"/>
              </a:rPr>
              <a:t>Concept, budget &amp; run-of-show — then a lock gate before anyone spends a dollar.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48840"/>
            <a:ext cx="5148072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D44A24"/>
                </a:solidFill>
                <a:latin typeface="Segoe UI"/>
              </a:rPr>
              <a:t>—  </a:t>
            </a:r>
            <a:r>
              <a:rPr sz="1650" b="1" i="0">
                <a:solidFill>
                  <a:srgbClr val="1B1712"/>
                </a:solidFill>
                <a:latin typeface="Segoe UI"/>
              </a:rPr>
              <a:t>Luma Event Invite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6E6455"/>
                </a:solidFill>
                <a:latin typeface="Segoe UI"/>
              </a:rPr>
              <a:t>Learns your club’s vibes, colors &amp; voice first. Drafts the invite. Never publishes.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38728"/>
            <a:ext cx="5148072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D44A24"/>
                </a:solidFill>
                <a:latin typeface="Segoe UI"/>
              </a:rPr>
              <a:t>—  </a:t>
            </a:r>
            <a:r>
              <a:rPr sz="1650" b="1" i="0">
                <a:solidFill>
                  <a:srgbClr val="1B1712"/>
                </a:solidFill>
                <a:latin typeface="Segoe UI"/>
              </a:rPr>
              <a:t>Amazon Event Supplies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6E6455"/>
                </a:solidFill>
                <a:latin typeface="Segoe UI"/>
              </a:rPr>
              <a:t>Only quality passes: 500+ reviews, 4.6+ stars, arrives 2+ days early. Stops before checkout.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538728"/>
            <a:ext cx="5148072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D44A24"/>
                </a:solidFill>
                <a:latin typeface="Segoe UI"/>
              </a:rPr>
              <a:t>—  </a:t>
            </a:r>
            <a:r>
              <a:rPr sz="1650" b="1" i="0">
                <a:solidFill>
                  <a:srgbClr val="1B1712"/>
                </a:solidFill>
                <a:latin typeface="Segoe UI"/>
              </a:rPr>
              <a:t>Event Food Order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6E6455"/>
                </a:solidFill>
                <a:latin typeface="Segoe UI"/>
              </a:rPr>
              <a:t>Any vendor you pick. Order sheet, runner logistics, reimbursement — out of the supplies cart.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928616"/>
            <a:ext cx="5148072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D44A24"/>
                </a:solidFill>
                <a:latin typeface="Segoe UI"/>
              </a:rPr>
              <a:t>—  </a:t>
            </a:r>
            <a:r>
              <a:rPr sz="1650" b="1" i="0">
                <a:solidFill>
                  <a:srgbClr val="1B1712"/>
                </a:solidFill>
                <a:latin typeface="Segoe UI"/>
              </a:rPr>
              <a:t>Personal Daily Brief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6E6455"/>
                </a:solidFill>
                <a:latin typeface="Segoe UI"/>
              </a:rPr>
              <a:t>Reads your Notion, calendar &amp; email each morning: what’s on, what’s waiting, a plan. Read-only.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4928616"/>
            <a:ext cx="5148072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D44A24"/>
                </a:solidFill>
                <a:latin typeface="Segoe UI"/>
              </a:rPr>
              <a:t>—  </a:t>
            </a:r>
            <a:r>
              <a:rPr sz="1650" b="1" i="0">
                <a:solidFill>
                  <a:srgbClr val="1B1712"/>
                </a:solidFill>
                <a:latin typeface="Segoe UI"/>
              </a:rPr>
              <a:t>Ops · Outreach · Metrics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6E6455"/>
                </a:solidFill>
                <a:latin typeface="Segoe UI"/>
              </a:rPr>
              <a:t>In-app helpers for task breakdowns, drafts to the Approvals queue &amp; post-event follow-ups.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0543032" cy="12700"/>
          </a:xfrm>
          <a:prstGeom prst="rect">
            <a:avLst/>
          </a:prstGeom>
          <a:solidFill>
            <a:srgbClr val="D9C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7665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 spc="300">
                <a:solidFill>
                  <a:srgbClr val="1B1712"/>
                </a:solidFill>
                <a:latin typeface="Segoe UI"/>
              </a:rPr>
              <a:t>COOK</a:t>
            </a:r>
            <a:r>
              <a:rPr sz="1100" b="1" i="0" spc="300">
                <a:solidFill>
                  <a:srgbClr val="6E6455"/>
                </a:solidFill>
                <a:latin typeface="Segoe UI"/>
              </a:rPr>
              <a:t>   ·   THE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76656"/>
            <a:ext cx="1005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 spc="200">
                <a:solidFill>
                  <a:srgbClr val="6E6455"/>
                </a:solidFill>
                <a:latin typeface="Segoe UI"/>
              </a:rPr>
              <a:t>06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10543032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0" i="1">
                <a:solidFill>
                  <a:srgbClr val="1B1712"/>
                </a:solidFill>
                <a:latin typeface="Georgia"/>
              </a:rPr>
              <a:t>First Spark to Last 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67712"/>
            <a:ext cx="1005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0" i="1">
                <a:solidFill>
                  <a:srgbClr val="D44A24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377440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B1712"/>
                </a:solidFill>
                <a:latin typeface="Segoe UI"/>
              </a:rPr>
              <a:t>Plan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6E6455"/>
                </a:solidFill>
                <a:latin typeface="Segoe UI"/>
              </a:rPr>
              <a:t>Concept, budget &amp; run-of-show come together — then everything locks: date, headcount, budget.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3236976"/>
            <a:ext cx="9445752" cy="12700"/>
          </a:xfrm>
          <a:prstGeom prst="rect">
            <a:avLst/>
          </a:prstGeom>
          <a:solidFill>
            <a:srgbClr val="D9C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55264"/>
            <a:ext cx="1005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0" i="1">
                <a:solidFill>
                  <a:srgbClr val="D44A24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3364992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B1712"/>
                </a:solidFill>
                <a:latin typeface="Segoe UI"/>
              </a:rPr>
              <a:t>Invite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6E6455"/>
                </a:solidFill>
                <a:latin typeface="Segoe UI"/>
              </a:rPr>
              <a:t>The Luma draft is built from your club’s look &amp; voice, shown to you, and held.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4224528"/>
            <a:ext cx="9445752" cy="12700"/>
          </a:xfrm>
          <a:prstGeom prst="rect">
            <a:avLst/>
          </a:prstGeom>
          <a:solidFill>
            <a:srgbClr val="D9C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242816"/>
            <a:ext cx="1005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0" i="1">
                <a:solidFill>
                  <a:srgbClr val="D44A24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352544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B1712"/>
                </a:solidFill>
                <a:latin typeface="Segoe UI"/>
              </a:rPr>
              <a:t>Order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6E6455"/>
                </a:solidFill>
                <a:latin typeface="Segoe UI"/>
              </a:rPr>
              <a:t>Supplies verified against the quality bar; the food run planned separately. Both stop before payment.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5212080"/>
            <a:ext cx="9445752" cy="12700"/>
          </a:xfrm>
          <a:prstGeom prst="rect">
            <a:avLst/>
          </a:prstGeom>
          <a:solidFill>
            <a:srgbClr val="D9C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230368"/>
            <a:ext cx="1005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0" i="1">
                <a:solidFill>
                  <a:srgbClr val="D44A24"/>
                </a:solidFill>
                <a:latin typeface="Georgia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340096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B1712"/>
                </a:solidFill>
                <a:latin typeface="Segoe UI"/>
              </a:rPr>
              <a:t>Serve &amp; Debrief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6E6455"/>
                </a:solidFill>
                <a:latin typeface="Segoe UI"/>
              </a:rPr>
              <a:t>The day-of checklist runs the night; attendance &amp; follow-ups feed the next event.</a:t>
            </a:r>
          </a:p>
        </p:txBody>
      </p:sp>
      <p:sp>
        <p:nvSpPr>
          <p:cNvPr id="18" name="Rounded Rectangle 17"/>
          <p:cNvSpPr/>
          <p:nvPr/>
        </p:nvSpPr>
        <p:spPr>
          <a:xfrm rot="420000">
            <a:off x="9646920" y="1051560"/>
            <a:ext cx="1965960" cy="512064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D4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100" b="1" i="0" spc="300">
                <a:solidFill>
                  <a:srgbClr val="D44A24"/>
                </a:solidFill>
                <a:latin typeface="Segoe UI"/>
              </a:rPr>
              <a:t>APPROVAL REQUIRED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0543032" cy="12700"/>
          </a:xfrm>
          <a:prstGeom prst="rect">
            <a:avLst/>
          </a:prstGeom>
          <a:solidFill>
            <a:srgbClr val="D9C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7665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 spc="300">
                <a:solidFill>
                  <a:srgbClr val="1B1712"/>
                </a:solidFill>
                <a:latin typeface="Segoe UI"/>
              </a:rPr>
              <a:t>COOK</a:t>
            </a:r>
            <a:r>
              <a:rPr sz="1100" b="1" i="0" spc="300">
                <a:solidFill>
                  <a:srgbClr val="6E6455"/>
                </a:solidFill>
                <a:latin typeface="Segoe UI"/>
              </a:rPr>
              <a:t>   ·  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76656"/>
            <a:ext cx="1005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 spc="200">
                <a:solidFill>
                  <a:srgbClr val="6E6455"/>
                </a:solidFill>
                <a:latin typeface="Segoe UI"/>
              </a:rPr>
              <a:t>07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10543032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0" i="1">
                <a:solidFill>
                  <a:srgbClr val="1B1712"/>
                </a:solidFill>
                <a:latin typeface="Georgia"/>
              </a:rPr>
              <a:t>Nothing Leaves the Kitchen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543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600" b="0" i="1">
                <a:solidFill>
                  <a:srgbClr val="D44A24"/>
                </a:solidFill>
                <a:latin typeface="Georgia"/>
              </a:rPr>
              <a:t>without your stamp.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D44A24"/>
                </a:solidFill>
                <a:latin typeface="Segoe U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743200"/>
            <a:ext cx="7863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1B1712"/>
                </a:solidFill>
                <a:latin typeface="Segoe UI"/>
              </a:rPr>
              <a:t>Approve-before-send, everywhere — </a:t>
            </a:r>
            <a:r>
              <a:rPr sz="1350" b="0" i="0">
                <a:solidFill>
                  <a:srgbClr val="6E6455"/>
                </a:solidFill>
                <a:latin typeface="Segoe UI"/>
              </a:rPr>
              <a:t>invites, outreach, orders &amp; edits each pause for an explicit yes — per action, not per session.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84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D44A24"/>
                </a:solidFill>
                <a:latin typeface="Segoe U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584448"/>
            <a:ext cx="7863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1B1712"/>
                </a:solidFill>
                <a:latin typeface="Segoe UI"/>
              </a:rPr>
              <a:t>Dry-run safe by default — </a:t>
            </a:r>
            <a:r>
              <a:rPr sz="1350" b="0" i="0">
                <a:solidFill>
                  <a:srgbClr val="6E6455"/>
                </a:solidFill>
                <a:latin typeface="Segoe UI"/>
              </a:rPr>
              <a:t>demo mode builds full carts &amp; drafts without ever paying, publishing, or sending.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25696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D44A24"/>
                </a:solidFill>
                <a:latin typeface="Segoe U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425696"/>
            <a:ext cx="7863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1B1712"/>
                </a:solidFill>
                <a:latin typeface="Segoe UI"/>
              </a:rPr>
              <a:t>Every claim shows its source — </a:t>
            </a:r>
            <a:r>
              <a:rPr sz="1350" b="0" i="0">
                <a:solidFill>
                  <a:srgbClr val="6E6455"/>
                </a:solidFill>
                <a:latin typeface="Segoe UI"/>
              </a:rPr>
              <a:t>briefings tag each item — calendar, Notion, or email — so you can verify in two clicks.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66944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D44A24"/>
                </a:solidFill>
                <a:latin typeface="Segoe U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5266944"/>
            <a:ext cx="7863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1B1712"/>
                </a:solidFill>
                <a:latin typeface="Segoe UI"/>
              </a:rPr>
              <a:t>Skills are plain files — </a:t>
            </a:r>
            <a:r>
              <a:rPr sz="1350" b="0" i="0">
                <a:solidFill>
                  <a:srgbClr val="6E6455"/>
                </a:solidFill>
                <a:latin typeface="Segoe UI"/>
              </a:rPr>
              <a:t>each skill is one readable document. Review it, copy it, hand it to another agent.</a:t>
            </a:r>
          </a:p>
        </p:txBody>
      </p:sp>
      <p:sp>
        <p:nvSpPr>
          <p:cNvPr id="16" name="Rounded Rectangle 15"/>
          <p:cNvSpPr/>
          <p:nvPr/>
        </p:nvSpPr>
        <p:spPr>
          <a:xfrm rot="21060000">
            <a:off x="9464040" y="3383280"/>
            <a:ext cx="2286000" cy="566928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D4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 i="0" spc="300">
                <a:solidFill>
                  <a:srgbClr val="D44A24"/>
                </a:solidFill>
                <a:latin typeface="Segoe UI"/>
              </a:rPr>
              <a:t>APPROVAL REQUIRED</a:t>
            </a:r>
          </a:p>
        </p:txBody>
      </p:sp>
      <p:sp>
        <p:nvSpPr>
          <p:cNvPr id="17" name="Rounded Rectangle 16"/>
          <p:cNvSpPr/>
          <p:nvPr/>
        </p:nvSpPr>
        <p:spPr>
          <a:xfrm rot="300000">
            <a:off x="9784080" y="4434840"/>
            <a:ext cx="1920240" cy="512064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D4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100" b="1" i="0" spc="300">
                <a:solidFill>
                  <a:srgbClr val="D44A24"/>
                </a:solidFill>
                <a:latin typeface="Segoe UI"/>
              </a:rPr>
              <a:t>HUMAN SAYS YES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0543032" cy="12700"/>
          </a:xfrm>
          <a:prstGeom prst="rect">
            <a:avLst/>
          </a:prstGeom>
          <a:solidFill>
            <a:srgbClr val="D9C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7665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 spc="300">
                <a:solidFill>
                  <a:srgbClr val="1B1712"/>
                </a:solidFill>
                <a:latin typeface="Segoe UI"/>
              </a:rPr>
              <a:t>COOK</a:t>
            </a:r>
            <a:r>
              <a:rPr sz="1100" b="1" i="0" spc="300">
                <a:solidFill>
                  <a:srgbClr val="6E6455"/>
                </a:solidFill>
                <a:latin typeface="Segoe UI"/>
              </a:rPr>
              <a:t>   ·   WHERE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76656"/>
            <a:ext cx="1005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 spc="200">
                <a:solidFill>
                  <a:srgbClr val="6E6455"/>
                </a:solidFill>
                <a:latin typeface="Segoe UI"/>
              </a:rPr>
              <a:t>08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10543032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0" i="1">
                <a:solidFill>
                  <a:srgbClr val="1B1712"/>
                </a:solidFill>
                <a:latin typeface="Georgia"/>
              </a:rPr>
              <a:t>Serving Tonight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3364992" cy="3291840"/>
          </a:xfrm>
          <a:prstGeom prst="roundRect">
            <a:avLst>
              <a:gd name="adj" fmla="val 4500"/>
            </a:avLst>
          </a:prstGeom>
          <a:solidFill>
            <a:srgbClr val="FFFCF6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2670048"/>
            <a:ext cx="2779776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1">
                <a:solidFill>
                  <a:srgbClr val="1B1712"/>
                </a:solidFill>
                <a:latin typeface="Georgia"/>
              </a:rPr>
              <a:t>On the Pass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D44A24"/>
                </a:solidFill>
                <a:latin typeface="Segoe UI"/>
              </a:rPr>
              <a:t>—  </a:t>
            </a:r>
            <a:r>
              <a:rPr sz="1300" b="0" i="0">
                <a:solidFill>
                  <a:srgbClr val="1B1712"/>
                </a:solidFill>
                <a:latin typeface="Segoe UI"/>
              </a:rPr>
              <a:t>Full event management: tasks, run-of-show, partners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D44A24"/>
                </a:solidFill>
                <a:latin typeface="Segoe UI"/>
              </a:rPr>
              <a:t>—  </a:t>
            </a:r>
            <a:r>
              <a:rPr sz="1300" b="0" i="0">
                <a:solidFill>
                  <a:srgbClr val="1B1712"/>
                </a:solidFill>
                <a:latin typeface="Segoe UI"/>
              </a:rPr>
              <a:t>The Approvals queue, working end to end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D44A24"/>
                </a:solidFill>
                <a:latin typeface="Segoe UI"/>
              </a:rPr>
              <a:t>—  </a:t>
            </a:r>
            <a:r>
              <a:rPr sz="1300" b="0" i="0">
                <a:solidFill>
                  <a:srgbClr val="1B1712"/>
                </a:solidFill>
                <a:latin typeface="Segoe UI"/>
              </a:rPr>
              <a:t>A seeded demo night, ready to walk through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2377440"/>
            <a:ext cx="3364992" cy="3291840"/>
          </a:xfrm>
          <a:prstGeom prst="roundRect">
            <a:avLst>
              <a:gd name="adj" fmla="val 4500"/>
            </a:avLst>
          </a:prstGeom>
          <a:solidFill>
            <a:srgbClr val="FFFCF6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670048"/>
            <a:ext cx="2779776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1">
                <a:solidFill>
                  <a:srgbClr val="6E6455"/>
                </a:solidFill>
                <a:latin typeface="Georgia"/>
              </a:rPr>
              <a:t>Still Prepping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D44A24"/>
                </a:solidFill>
                <a:latin typeface="Segoe UI"/>
              </a:rPr>
              <a:t>—  </a:t>
            </a:r>
            <a:r>
              <a:rPr sz="1300" b="0" i="0">
                <a:solidFill>
                  <a:srgbClr val="6E6455"/>
                </a:solidFill>
                <a:latin typeface="Segoe UI"/>
              </a:rPr>
              <a:t>AI skills answer with placeholders today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D44A24"/>
                </a:solidFill>
                <a:latin typeface="Segoe UI"/>
              </a:rPr>
              <a:t>—  </a:t>
            </a:r>
            <a:r>
              <a:rPr sz="1300" b="0" i="0">
                <a:solidFill>
                  <a:srgbClr val="6E6455"/>
                </a:solidFill>
                <a:latin typeface="Segoe UI"/>
              </a:rPr>
              <a:t>Sign-in is a demo shortcut, not real accounts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D44A24"/>
                </a:solidFill>
                <a:latin typeface="Segoe UI"/>
              </a:rPr>
              <a:t>—  </a:t>
            </a:r>
            <a:r>
              <a:rPr sz="1300" b="0" i="0">
                <a:solidFill>
                  <a:srgbClr val="6E6455"/>
                </a:solidFill>
                <a:latin typeface="Segoe UI"/>
              </a:rPr>
              <a:t>Approving a draft doesn’t send it yet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2377440"/>
            <a:ext cx="3364992" cy="3291840"/>
          </a:xfrm>
          <a:prstGeom prst="roundRect">
            <a:avLst>
              <a:gd name="adj" fmla="val 4500"/>
            </a:avLst>
          </a:prstGeom>
          <a:solidFill>
            <a:srgbClr val="FFFCF6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2670048"/>
            <a:ext cx="2779776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1">
                <a:solidFill>
                  <a:srgbClr val="D44A24"/>
                </a:solidFill>
                <a:latin typeface="Georgia"/>
              </a:rPr>
              <a:t>Next Up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D44A24"/>
                </a:solidFill>
                <a:latin typeface="Segoe UI"/>
              </a:rPr>
              <a:t>—  </a:t>
            </a:r>
            <a:r>
              <a:rPr sz="1300" b="0" i="0">
                <a:solidFill>
                  <a:srgbClr val="1B1712"/>
                </a:solidFill>
                <a:latin typeface="Segoe UI"/>
              </a:rPr>
              <a:t>Plug a real model into the skills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D44A24"/>
                </a:solidFill>
                <a:latin typeface="Segoe UI"/>
              </a:rPr>
              <a:t>—  </a:t>
            </a:r>
            <a:r>
              <a:rPr sz="1300" b="0" i="0">
                <a:solidFill>
                  <a:srgbClr val="1B1712"/>
                </a:solidFill>
                <a:latin typeface="Segoe UI"/>
              </a:rPr>
              <a:t>Real accounts &amp; per-club permissions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D44A24"/>
                </a:solidFill>
                <a:latin typeface="Segoe UI"/>
              </a:rPr>
              <a:t>—  </a:t>
            </a:r>
            <a:r>
              <a:rPr sz="1300" b="0" i="0">
                <a:solidFill>
                  <a:srgbClr val="1B1712"/>
                </a:solidFill>
                <a:latin typeface="Segoe UI"/>
              </a:rPr>
              <a:t>Approved drafts actually send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54303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0" i="1">
                <a:solidFill>
                  <a:srgbClr val="1B1712"/>
                </a:solidFill>
                <a:latin typeface="Georgia"/>
              </a:rPr>
              <a:t>The skills are already written. </a:t>
            </a:r>
            <a:r>
              <a:rPr sz="1700" b="0" i="1">
                <a:solidFill>
                  <a:srgbClr val="D44A24"/>
                </a:solidFill>
                <a:latin typeface="Georgia"/>
              </a:rPr>
              <a:t>We’re just firing the burners…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